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2" r:id="rId9"/>
    <p:sldId id="263" r:id="rId10"/>
    <p:sldId id="264" r:id="rId11"/>
    <p:sldId id="265" r:id="rId12"/>
    <p:sldId id="266" r:id="rId13"/>
    <p:sldId id="267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3907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669" y="621804"/>
            <a:ext cx="8290661" cy="2560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720"/>
              </a:lnSpc>
              <a:spcAft>
                <a:spcPts val="2000"/>
              </a:spcAft>
              <a:buNone/>
            </a:pPr>
            <a:r>
              <a:rPr lang="en-US" sz="5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to the Kiro</a:t>
            </a:r>
            <a:endParaRPr lang="en-US" sz="5600" dirty="0"/>
          </a:p>
          <a:p>
            <a:pPr marL="0" indent="0" algn="ctr">
              <a:lnSpc>
                <a:spcPts val="6720"/>
              </a:lnSpc>
              <a:spcAft>
                <a:spcPts val="2000"/>
              </a:spcAft>
              <a:buNone/>
            </a:pPr>
            <a:r>
              <a:rPr lang="en-US" sz="5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Duck Generator Challenge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426669" y="3435846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0"/>
              </a:spcAft>
              <a:buNone/>
            </a:pPr>
            <a:r>
              <a:rPr lang="en-US" sz="28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Development Workshop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26669" y="4226421"/>
            <a:ext cx="829066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E4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Build. Generate. Quack.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7625" y="0"/>
            <a:ext cx="0" cy="1101626"/>
          </a:xfrm>
          <a:prstGeom prst="line">
            <a:avLst/>
          </a:prstGeom>
          <a:noFill/>
          <a:ln w="95250">
            <a:solidFill>
              <a:srgbClr val="FE44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3200" y="317450"/>
            <a:ext cx="819350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Overview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7950" y="1330226"/>
            <a:ext cx="8128099" cy="958751"/>
          </a:xfrm>
          <a:prstGeom prst="roundRect">
            <a:avLst>
              <a:gd name="adj" fmla="val 10597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31763" y="1330226"/>
            <a:ext cx="0" cy="958751"/>
          </a:xfrm>
          <a:prstGeom prst="line">
            <a:avLst/>
          </a:prstGeom>
          <a:noFill/>
          <a:ln w="47625">
            <a:solidFill>
              <a:srgbClr val="5EA8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6075" y="1520726"/>
            <a:ext cx="785346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6075" y="1831777"/>
            <a:ext cx="785346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25-30 minutes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2415927"/>
            <a:ext cx="8128099" cy="958751"/>
          </a:xfrm>
          <a:prstGeom prst="roundRect">
            <a:avLst>
              <a:gd name="adj" fmla="val 10597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31763" y="2415927"/>
            <a:ext cx="0" cy="958751"/>
          </a:xfrm>
          <a:prstGeom prst="line">
            <a:avLst/>
          </a:prstGeom>
          <a:noFill/>
          <a:ln w="47625">
            <a:solidFill>
              <a:srgbClr val="5EA8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46075" y="2606427"/>
            <a:ext cx="785346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6075" y="2917478"/>
            <a:ext cx="785346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200 - Beginner Friendly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7950" y="3501628"/>
            <a:ext cx="8128099" cy="958751"/>
          </a:xfrm>
          <a:prstGeom prst="roundRect">
            <a:avLst>
              <a:gd name="adj" fmla="val 10597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531763" y="3501628"/>
            <a:ext cx="0" cy="958751"/>
          </a:xfrm>
          <a:prstGeom prst="line">
            <a:avLst/>
          </a:prstGeom>
          <a:noFill/>
          <a:ln w="47625">
            <a:solidFill>
              <a:srgbClr val="5EA8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46075" y="3692128"/>
            <a:ext cx="785346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You'll Build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46075" y="4003179"/>
            <a:ext cx="785346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AI-powered duck image generator using Amazon Bedrock Nova Canvas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285875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7625" y="0"/>
            <a:ext cx="0" cy="1285875"/>
          </a:xfrm>
          <a:prstGeom prst="line">
            <a:avLst/>
          </a:prstGeom>
          <a:noFill/>
          <a:ln w="95250">
            <a:solidFill>
              <a:srgbClr val="B16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3200" y="381000"/>
            <a:ext cx="8193506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Start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07950" y="1666875"/>
            <a:ext cx="395102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0"/>
              </a:spcAft>
              <a:buNone/>
            </a:pPr>
            <a:r>
              <a:rPr lang="en-US" sz="2200" b="1" dirty="0">
                <a:solidFill>
                  <a:srgbClr val="18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7950" y="2181225"/>
            <a:ext cx="3873550" cy="1828056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marL="127000" indent="-127000" algn="l">
              <a:lnSpc>
                <a:spcPts val="224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3.9+</a:t>
            </a:r>
            <a:endParaRPr lang="en-US" sz="1600" dirty="0"/>
          </a:p>
          <a:p>
            <a:pPr marL="127000" indent="-127000" algn="l">
              <a:lnSpc>
                <a:spcPts val="224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18+</a:t>
            </a:r>
            <a:endParaRPr lang="en-US" sz="1600" dirty="0"/>
          </a:p>
          <a:p>
            <a:pPr marL="127000" indent="-127000" algn="l">
              <a:lnSpc>
                <a:spcPts val="224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 browser</a:t>
            </a:r>
            <a:endParaRPr lang="en-US" sz="1600" dirty="0"/>
          </a:p>
          <a:p>
            <a:pPr marL="127000" indent="-127000" algn="l">
              <a:lnSpc>
                <a:spcPts val="224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installed</a:t>
            </a:r>
            <a:endParaRPr lang="en-US" sz="1600" dirty="0"/>
          </a:p>
          <a:p>
            <a:pPr marL="127000" indent="-127000" algn="l">
              <a:lnSpc>
                <a:spcPts val="224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uv and uvx tools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762500" y="1666875"/>
            <a:ext cx="395102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0"/>
              </a:spcAft>
              <a:buNone/>
            </a:pPr>
            <a:r>
              <a:rPr lang="en-US" sz="2200" b="1" dirty="0">
                <a:solidFill>
                  <a:srgbClr val="18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Included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762500" y="2181225"/>
            <a:ext cx="3873550" cy="1828056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marL="127000" indent="-127000" algn="l">
              <a:lnSpc>
                <a:spcPts val="224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Kiro IDE</a:t>
            </a:r>
            <a:endParaRPr lang="en-US" sz="1600" dirty="0"/>
          </a:p>
          <a:p>
            <a:pPr marL="127000" indent="-127000" algn="l">
              <a:lnSpc>
                <a:spcPts val="224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Bedrock access</a:t>
            </a:r>
            <a:endParaRPr lang="en-US" sz="1600" dirty="0"/>
          </a:p>
          <a:p>
            <a:pPr marL="127000" indent="-127000" algn="l">
              <a:lnSpc>
                <a:spcPts val="224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MCP servers</a:t>
            </a:r>
            <a:endParaRPr lang="en-US" sz="1600" dirty="0"/>
          </a:p>
          <a:p>
            <a:pPr marL="127000" indent="-127000" algn="l">
              <a:lnSpc>
                <a:spcPts val="224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Pre-configured backend</a:t>
            </a:r>
            <a:endParaRPr lang="en-US" sz="1600" dirty="0"/>
          </a:p>
          <a:p>
            <a:pPr marL="127000" indent="-127000" algn="l">
              <a:lnSpc>
                <a:spcPts val="224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fallback duck images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FE444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7625" y="0"/>
            <a:ext cx="0" cy="1101626"/>
          </a:xfrm>
          <a:prstGeom prst="line">
            <a:avLst/>
          </a:prstGeom>
          <a:noFill/>
          <a:ln w="95250">
            <a:solidFill>
              <a:srgbClr val="181B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3200" y="317450"/>
            <a:ext cx="819350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Amazon Bedrock Charges?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34901" y="1419076"/>
            <a:ext cx="7874198" cy="2859584"/>
          </a:xfrm>
          <a:prstGeom prst="roundRect">
            <a:avLst>
              <a:gd name="adj" fmla="val 3553"/>
            </a:avLst>
          </a:prstGeom>
          <a:solidFill>
            <a:srgbClr val="FFF3C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673001" y="1419076"/>
            <a:ext cx="0" cy="2859584"/>
          </a:xfrm>
          <a:prstGeom prst="line">
            <a:avLst/>
          </a:prstGeom>
          <a:noFill/>
          <a:ln w="76200">
            <a:solidFill>
              <a:srgbClr val="FE44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5002" y="1672977"/>
            <a:ext cx="743600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FE4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Sample Duck Images Included!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5002" y="2120652"/>
            <a:ext cx="7436001" cy="304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want to incur Amazon Bedrock charges? No problem!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5002" y="2552254"/>
            <a:ext cx="7436001" cy="60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backend API automatically uses </a:t>
            </a:r>
            <a:r>
              <a:rPr lang="en-US" sz="16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pre-generated fallback duck images</a:t>
            </a: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generation fails or if you prefer not to use Bedrock.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5002" y="3288506"/>
            <a:ext cx="7436001" cy="60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still complete the entire challenge and build a working duck generator without any AWS costs.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7625" y="0"/>
            <a:ext cx="0" cy="1101626"/>
          </a:xfrm>
          <a:prstGeom prst="line">
            <a:avLst/>
          </a:prstGeom>
          <a:noFill/>
          <a:ln w="95250">
            <a:solidFill>
              <a:srgbClr val="5EA8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3200" y="317450"/>
            <a:ext cx="819350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Get the Code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34901" y="1482626"/>
            <a:ext cx="8031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800"/>
              </a:spcAft>
              <a:buNone/>
            </a:pPr>
            <a:r>
              <a:rPr lang="en-US" sz="22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the GitHub Repository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34901" y="2035076"/>
            <a:ext cx="7874198" cy="1041350"/>
          </a:xfrm>
          <a:prstGeom prst="roundRect">
            <a:avLst>
              <a:gd name="adj" fmla="val 9757"/>
            </a:avLst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4251" y="2263676"/>
            <a:ext cx="746180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E4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the repo to your machine: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251" y="2628751"/>
            <a:ext cx="746180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5EA8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https://github.com/aws-banjo/riv25_duck_game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4901" y="3228826"/>
            <a:ext cx="7874198" cy="1041350"/>
          </a:xfrm>
          <a:prstGeom prst="roundRect">
            <a:avLst>
              <a:gd name="adj" fmla="val 9757"/>
            </a:avLst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14251" y="3457426"/>
            <a:ext cx="746180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E4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 and open README: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251" y="3822502"/>
            <a:ext cx="746180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5EA8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riv25_duck_game &amp;&amp; cat README.md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87326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7625" y="0"/>
            <a:ext cx="0" cy="987326"/>
          </a:xfrm>
          <a:prstGeom prst="line">
            <a:avLst/>
          </a:prstGeom>
          <a:noFill/>
          <a:ln w="95250">
            <a:solidFill>
              <a:srgbClr val="181B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3200" y="279350"/>
            <a:ext cx="819350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Connect MCP Servers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34901" y="1368326"/>
            <a:ext cx="803168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0"/>
              </a:spcAft>
              <a:buNone/>
            </a:pPr>
            <a:r>
              <a:rPr lang="en-US" sz="20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MCP Servers to Kiro IDE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34901" y="1854101"/>
            <a:ext cx="7874198" cy="808881"/>
          </a:xfrm>
          <a:prstGeom prst="roundRect">
            <a:avLst>
              <a:gd name="adj" fmla="val 12561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58713" y="1854101"/>
            <a:ext cx="0" cy="808881"/>
          </a:xfrm>
          <a:prstGeom prst="line">
            <a:avLst/>
          </a:prstGeom>
          <a:noFill/>
          <a:ln w="47625">
            <a:solidFill>
              <a:srgbClr val="5EA8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85676" y="1981051"/>
            <a:ext cx="756867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5676" y="2295376"/>
            <a:ext cx="7568678" cy="240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</a:t>
            </a:r>
            <a:r>
              <a:rPr lang="en-US" sz="14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.kiro/settings/mcp.json</a:t>
            </a: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repo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4901" y="2764482"/>
            <a:ext cx="7874198" cy="799356"/>
          </a:xfrm>
          <a:prstGeom prst="roundRect">
            <a:avLst>
              <a:gd name="adj" fmla="val 12710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58713" y="2764482"/>
            <a:ext cx="0" cy="799356"/>
          </a:xfrm>
          <a:prstGeom prst="line">
            <a:avLst/>
          </a:prstGeom>
          <a:noFill/>
          <a:ln w="47625">
            <a:solidFill>
              <a:srgbClr val="5EA8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85676" y="2891433"/>
            <a:ext cx="756867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85676" y="3205758"/>
            <a:ext cx="7568678" cy="23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the MCP server configurations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4901" y="3665339"/>
            <a:ext cx="7874198" cy="799356"/>
          </a:xfrm>
          <a:prstGeom prst="roundRect">
            <a:avLst>
              <a:gd name="adj" fmla="val 12710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58713" y="3665339"/>
            <a:ext cx="0" cy="799356"/>
          </a:xfrm>
          <a:prstGeom prst="line">
            <a:avLst/>
          </a:prstGeom>
          <a:noFill/>
          <a:ln w="47625">
            <a:solidFill>
              <a:srgbClr val="5EA8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85676" y="3792289"/>
            <a:ext cx="756867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5676" y="4106614"/>
            <a:ext cx="7568678" cy="23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them to your Kiro IDE settings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218902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7625" y="0"/>
            <a:ext cx="0" cy="1218902"/>
          </a:xfrm>
          <a:prstGeom prst="line">
            <a:avLst/>
          </a:prstGeom>
          <a:noFill/>
          <a:ln w="95250">
            <a:solidFill>
              <a:srgbClr val="FE44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3200" y="253901"/>
            <a:ext cx="8193506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Pre-Configured MCP Servers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03200" y="764977"/>
            <a:ext cx="81935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800"/>
              </a:spcBef>
              <a:buNone/>
            </a:pPr>
            <a:r>
              <a:rPr lang="en-US" sz="13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.kiro/settings/mcp.json in the repo to add these to your Kiro IDE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950" y="1371302"/>
            <a:ext cx="2912418" cy="981373"/>
          </a:xfrm>
          <a:prstGeom prst="roundRect">
            <a:avLst>
              <a:gd name="adj" fmla="val 7765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7950" y="1390352"/>
            <a:ext cx="2912418" cy="0"/>
          </a:xfrm>
          <a:prstGeom prst="line">
            <a:avLst/>
          </a:prstGeom>
          <a:noFill/>
          <a:ln w="38100">
            <a:solidFill>
              <a:srgbClr val="5EA8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0350" y="1561802"/>
            <a:ext cx="26597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8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Canvas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0350" y="1834753"/>
            <a:ext cx="2659770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duck images with Amazon Bedrock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72768" y="1371302"/>
            <a:ext cx="2912418" cy="981373"/>
          </a:xfrm>
          <a:prstGeom prst="roundRect">
            <a:avLst>
              <a:gd name="adj" fmla="val 7765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572768" y="1390352"/>
            <a:ext cx="2912418" cy="0"/>
          </a:xfrm>
          <a:prstGeom prst="line">
            <a:avLst/>
          </a:prstGeom>
          <a:noFill/>
          <a:ln w="38100">
            <a:solidFill>
              <a:srgbClr val="5EA8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725168" y="1561802"/>
            <a:ext cx="26597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8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Docs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25168" y="1834753"/>
            <a:ext cx="2659770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AWS documentation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950" y="2505075"/>
            <a:ext cx="2912418" cy="798612"/>
          </a:xfrm>
          <a:prstGeom prst="roundRect">
            <a:avLst>
              <a:gd name="adj" fmla="val 9542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07950" y="2524125"/>
            <a:ext cx="2912418" cy="0"/>
          </a:xfrm>
          <a:prstGeom prst="line">
            <a:avLst/>
          </a:prstGeom>
          <a:noFill/>
          <a:ln w="38100">
            <a:solidFill>
              <a:srgbClr val="5EA8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60350" y="2695575"/>
            <a:ext cx="26597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8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MCP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0350" y="2968526"/>
            <a:ext cx="2659770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React components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572768" y="2505075"/>
            <a:ext cx="2912418" cy="798612"/>
          </a:xfrm>
          <a:prstGeom prst="roundRect">
            <a:avLst>
              <a:gd name="adj" fmla="val 9542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3572768" y="2524125"/>
            <a:ext cx="2912418" cy="0"/>
          </a:xfrm>
          <a:prstGeom prst="line">
            <a:avLst/>
          </a:prstGeom>
          <a:noFill/>
          <a:ln w="38100">
            <a:solidFill>
              <a:srgbClr val="5EA8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725168" y="2695575"/>
            <a:ext cx="26597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8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Doc Gen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725168" y="2968526"/>
            <a:ext cx="2659770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documentation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7950" y="3456087"/>
            <a:ext cx="2912418" cy="798612"/>
          </a:xfrm>
          <a:prstGeom prst="roundRect">
            <a:avLst>
              <a:gd name="adj" fmla="val 9542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507950" y="3475137"/>
            <a:ext cx="2912418" cy="0"/>
          </a:xfrm>
          <a:prstGeom prst="line">
            <a:avLst/>
          </a:prstGeom>
          <a:noFill/>
          <a:ln w="38100">
            <a:solidFill>
              <a:srgbClr val="5EA8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60350" y="3646587"/>
            <a:ext cx="26597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8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Strands Agents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60350" y="3919537"/>
            <a:ext cx="2659770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workflows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572768" y="3456087"/>
            <a:ext cx="2912418" cy="798612"/>
          </a:xfrm>
          <a:prstGeom prst="roundRect">
            <a:avLst>
              <a:gd name="adj" fmla="val 9542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3572768" y="3475137"/>
            <a:ext cx="2912418" cy="0"/>
          </a:xfrm>
          <a:prstGeom prst="line">
            <a:avLst/>
          </a:prstGeom>
          <a:noFill/>
          <a:ln w="38100">
            <a:solidFill>
              <a:srgbClr val="5EA8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725168" y="3646587"/>
            <a:ext cx="26597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8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 DevTools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725168" y="3919537"/>
            <a:ext cx="2659770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automation and testing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285875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7625" y="0"/>
            <a:ext cx="0" cy="1285875"/>
          </a:xfrm>
          <a:prstGeom prst="line">
            <a:avLst/>
          </a:prstGeom>
          <a:noFill/>
          <a:ln w="95250">
            <a:solidFill>
              <a:srgbClr val="FE44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3200" y="381000"/>
            <a:ext cx="8193506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Simple Tasks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07950" y="1603325"/>
            <a:ext cx="1841599" cy="2139553"/>
          </a:xfrm>
          <a:prstGeom prst="roundRect">
            <a:avLst>
              <a:gd name="adj" fmla="val 5517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07950" y="1627138"/>
            <a:ext cx="1841599" cy="0"/>
          </a:xfrm>
          <a:prstGeom prst="line">
            <a:avLst/>
          </a:prstGeom>
          <a:noFill/>
          <a:ln w="47625">
            <a:solidFill>
              <a:srgbClr val="B16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1851" y="1904851"/>
            <a:ext cx="136047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61851" y="2473077"/>
            <a:ext cx="1360474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8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Backend &amp; Test MCP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1851" y="3288953"/>
            <a:ext cx="13604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minutes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03450" y="1603325"/>
            <a:ext cx="1841599" cy="2139553"/>
          </a:xfrm>
          <a:prstGeom prst="roundRect">
            <a:avLst>
              <a:gd name="adj" fmla="val 5517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2603450" y="1627138"/>
            <a:ext cx="1841599" cy="0"/>
          </a:xfrm>
          <a:prstGeom prst="line">
            <a:avLst/>
          </a:prstGeom>
          <a:noFill/>
          <a:ln w="47625">
            <a:solidFill>
              <a:srgbClr val="B16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857351" y="1904851"/>
            <a:ext cx="136047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857351" y="2473077"/>
            <a:ext cx="1360474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8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Coding Standards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857351" y="3288953"/>
            <a:ext cx="13604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minutes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98950" y="1603325"/>
            <a:ext cx="1841599" cy="2139553"/>
          </a:xfrm>
          <a:prstGeom prst="roundRect">
            <a:avLst>
              <a:gd name="adj" fmla="val 5517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698950" y="1627138"/>
            <a:ext cx="1841599" cy="0"/>
          </a:xfrm>
          <a:prstGeom prst="line">
            <a:avLst/>
          </a:prstGeom>
          <a:noFill/>
          <a:ln w="47625">
            <a:solidFill>
              <a:srgbClr val="B16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952851" y="1904851"/>
            <a:ext cx="136047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952851" y="2473077"/>
            <a:ext cx="136047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8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Duck Generator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952851" y="3050828"/>
            <a:ext cx="13604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94450" y="1603325"/>
            <a:ext cx="1841599" cy="2139553"/>
          </a:xfrm>
          <a:prstGeom prst="roundRect">
            <a:avLst>
              <a:gd name="adj" fmla="val 5517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6794450" y="1627138"/>
            <a:ext cx="1841599" cy="0"/>
          </a:xfrm>
          <a:prstGeom prst="line">
            <a:avLst/>
          </a:prstGeom>
          <a:noFill/>
          <a:ln w="47625">
            <a:solidFill>
              <a:srgbClr val="B16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048351" y="1904851"/>
            <a:ext cx="136047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7048351" y="2473077"/>
            <a:ext cx="136047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8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with DevTools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48351" y="3050828"/>
            <a:ext cx="13604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minutes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7625" y="0"/>
            <a:ext cx="0" cy="1101626"/>
          </a:xfrm>
          <a:prstGeom prst="line">
            <a:avLst/>
          </a:prstGeom>
          <a:noFill/>
          <a:ln w="95250">
            <a:solidFill>
              <a:srgbClr val="181B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3200" y="317450"/>
            <a:ext cx="819350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1: Start Backend &amp; Test MCP (5 min)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7950" y="1419076"/>
            <a:ext cx="362706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0"/>
              </a:spcAft>
              <a:buNone/>
            </a:pPr>
            <a:r>
              <a:rPr lang="en-US" sz="20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You'll Do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7950" y="1904851"/>
            <a:ext cx="3555950" cy="1003102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marL="127000" indent="-127000" algn="l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backend server</a:t>
            </a:r>
            <a:endParaRPr lang="en-US" sz="1500" dirty="0"/>
          </a:p>
          <a:p>
            <a:pPr marL="127000" indent="-127000" algn="l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MCP servers</a:t>
            </a:r>
            <a:endParaRPr lang="en-US" sz="1500" dirty="0"/>
          </a:p>
          <a:p>
            <a:pPr marL="127000" indent="-127000" algn="l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test duck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44901" y="1419076"/>
            <a:ext cx="427497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0"/>
              </a:spcAft>
              <a:buNone/>
            </a:pPr>
            <a:r>
              <a:rPr lang="en-US" sz="20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Prompts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444901" y="1904851"/>
            <a:ext cx="4191149" cy="902940"/>
          </a:xfrm>
          <a:prstGeom prst="roundRect">
            <a:avLst>
              <a:gd name="adj" fmla="val 8439"/>
            </a:avLst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35401" y="2095351"/>
            <a:ext cx="3886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E4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1: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35401" y="2368302"/>
            <a:ext cx="3886352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MCP servers are available?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44901" y="2960191"/>
            <a:ext cx="4191149" cy="1151930"/>
          </a:xfrm>
          <a:prstGeom prst="roundRect">
            <a:avLst>
              <a:gd name="adj" fmla="val 6615"/>
            </a:avLst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35401" y="3150691"/>
            <a:ext cx="3886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E4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2: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35401" y="3423642"/>
            <a:ext cx="3886352" cy="497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Nova Canvas MCP to generate a test duck image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7625" y="0"/>
            <a:ext cx="0" cy="1101626"/>
          </a:xfrm>
          <a:prstGeom prst="line">
            <a:avLst/>
          </a:prstGeom>
          <a:noFill/>
          <a:ln w="95250">
            <a:solidFill>
              <a:srgbClr val="181B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3200" y="317450"/>
            <a:ext cx="819350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2: Create Coding Standards (5 min)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7950" y="1419076"/>
            <a:ext cx="362706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0"/>
              </a:spcAft>
              <a:buNone/>
            </a:pPr>
            <a:r>
              <a:rPr lang="en-US" sz="20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You'll Do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7950" y="1904851"/>
            <a:ext cx="3555950" cy="1371302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marL="127000" indent="-127000" algn="l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steering document</a:t>
            </a:r>
            <a:endParaRPr lang="en-US" sz="1500" dirty="0"/>
          </a:p>
          <a:p>
            <a:pPr marL="127000" indent="-127000" algn="l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naming rules</a:t>
            </a:r>
            <a:endParaRPr lang="en-US" sz="1500" dirty="0"/>
          </a:p>
          <a:p>
            <a:pPr marL="127000" indent="-127000" algn="l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error handling</a:t>
            </a:r>
            <a:endParaRPr lang="en-US" sz="1500" dirty="0"/>
          </a:p>
          <a:p>
            <a:pPr marL="127000" indent="-127000" algn="l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duck theme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44901" y="1419076"/>
            <a:ext cx="427497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0"/>
              </a:spcAft>
              <a:buNone/>
            </a:pPr>
            <a:r>
              <a:rPr lang="en-US" sz="20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Prompt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444901" y="1904851"/>
            <a:ext cx="4191149" cy="1400919"/>
          </a:xfrm>
          <a:prstGeom prst="roundRect">
            <a:avLst>
              <a:gd name="adj" fmla="val 5439"/>
            </a:avLst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35401" y="2095351"/>
            <a:ext cx="3886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E4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35401" y="2368302"/>
            <a:ext cx="3886352" cy="74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steering doc with duck-themed coding standards including naming conventions and error handling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FE444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7625" y="0"/>
            <a:ext cx="0" cy="1101626"/>
          </a:xfrm>
          <a:prstGeom prst="line">
            <a:avLst/>
          </a:prstGeom>
          <a:noFill/>
          <a:ln w="95250">
            <a:solidFill>
              <a:srgbClr val="181B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3200" y="317450"/>
            <a:ext cx="819350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3: Build Duck Generator (10 min)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7950" y="1419076"/>
            <a:ext cx="362706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0"/>
              </a:spcAft>
              <a:buNone/>
            </a:pPr>
            <a:r>
              <a:rPr lang="en-US" sz="2000" b="1" dirty="0">
                <a:solidFill>
                  <a:srgbClr val="FE4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to Build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7950" y="1904851"/>
            <a:ext cx="3555950" cy="1739503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marL="127000" indent="-127000" algn="l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field for description</a:t>
            </a:r>
            <a:endParaRPr lang="en-US" sz="1500" dirty="0"/>
          </a:p>
          <a:p>
            <a:pPr marL="127000" indent="-127000" algn="l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button</a:t>
            </a:r>
            <a:endParaRPr lang="en-US" sz="1500" dirty="0"/>
          </a:p>
          <a:p>
            <a:pPr marL="127000" indent="-127000" algn="l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Loading state</a:t>
            </a:r>
            <a:endParaRPr lang="en-US" sz="1500" dirty="0"/>
          </a:p>
          <a:p>
            <a:pPr marL="127000" indent="-127000" algn="l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display</a:t>
            </a:r>
            <a:endParaRPr lang="en-US" sz="1500" dirty="0"/>
          </a:p>
          <a:p>
            <a:pPr marL="127000" indent="-127000" algn="l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handling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44901" y="1419076"/>
            <a:ext cx="427497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0"/>
              </a:spcAft>
              <a:buNone/>
            </a:pPr>
            <a:r>
              <a:rPr lang="en-US" sz="2000" b="1" dirty="0">
                <a:solidFill>
                  <a:srgbClr val="FE4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Spec Mode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444901" y="1904851"/>
            <a:ext cx="4191149" cy="1467594"/>
          </a:xfrm>
          <a:prstGeom prst="roundRect">
            <a:avLst>
              <a:gd name="adj" fmla="val 5192"/>
            </a:avLst>
          </a:prstGeom>
          <a:solidFill>
            <a:srgbClr val="FFF3C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468713" y="1904851"/>
            <a:ext cx="0" cy="1467594"/>
          </a:xfrm>
          <a:prstGeom prst="line">
            <a:avLst/>
          </a:prstGeom>
          <a:noFill/>
          <a:ln w="47625">
            <a:solidFill>
              <a:srgbClr val="FE44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83026" y="2095351"/>
            <a:ext cx="383777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E4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Concept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83026" y="2434977"/>
            <a:ext cx="3837774" cy="74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specifications instead of code. Kiro IDE uses AI to implement your features based on your specs.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7625" y="0"/>
            <a:ext cx="0" cy="1101626"/>
          </a:xfrm>
          <a:prstGeom prst="line">
            <a:avLst/>
          </a:prstGeom>
          <a:noFill/>
          <a:ln w="95250">
            <a:solidFill>
              <a:srgbClr val="B16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3200" y="317450"/>
            <a:ext cx="819350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Spec Mode?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34901" y="1355527"/>
            <a:ext cx="8031682" cy="60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spcAft>
                <a:spcPts val="2000"/>
              </a:spcAft>
              <a:buNone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 </a:t>
            </a:r>
            <a:r>
              <a:rPr lang="en-US" sz="16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high-level guidance</a:t>
            </a: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what you want to build. Kiro automatically generates detailed requirements, design, and tasks.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34901" y="2218730"/>
            <a:ext cx="7874198" cy="2349103"/>
          </a:xfrm>
          <a:prstGeom prst="roundRect">
            <a:avLst>
              <a:gd name="adj" fmla="val 4325"/>
            </a:avLst>
          </a:prstGeom>
          <a:solidFill>
            <a:srgbClr val="F4F6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58713" y="2218730"/>
            <a:ext cx="0" cy="2349103"/>
          </a:xfrm>
          <a:prstGeom prst="line">
            <a:avLst/>
          </a:prstGeom>
          <a:noFill/>
          <a:ln w="47625">
            <a:solidFill>
              <a:srgbClr val="5EA8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1126" y="2447330"/>
            <a:ext cx="75167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1126" y="2866430"/>
            <a:ext cx="75167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You write a spec describing your feature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1126" y="3234630"/>
            <a:ext cx="75167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r>
              <a:rPr lang="en-US" sz="15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Kiro generates requirements document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1126" y="3602831"/>
            <a:ext cx="75167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r>
              <a:rPr lang="en-US" sz="15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Kiro generates design document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1126" y="3971032"/>
            <a:ext cx="75167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r>
              <a:rPr lang="en-US" sz="15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Kiro generates tasks to implement it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568351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7625" y="0"/>
            <a:ext cx="0" cy="1568351"/>
          </a:xfrm>
          <a:prstGeom prst="line">
            <a:avLst/>
          </a:prstGeom>
          <a:noFill/>
          <a:ln w="95250">
            <a:solidFill>
              <a:srgbClr val="5EA8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3200" y="317450"/>
            <a:ext cx="8193506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4: Test with Chrome DevTools (5 min)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7950" y="1885801"/>
            <a:ext cx="362706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0"/>
              </a:spcAft>
              <a:buNone/>
            </a:pPr>
            <a:r>
              <a:rPr lang="en-US" sz="2000" b="1" dirty="0">
                <a:solidFill>
                  <a:srgbClr val="18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You'll Do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7950" y="2371576"/>
            <a:ext cx="3555950" cy="1371302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marL="127000" indent="-127000" algn="l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DevTools MCP</a:t>
            </a:r>
            <a:endParaRPr lang="en-US" sz="1500" dirty="0"/>
          </a:p>
          <a:p>
            <a:pPr marL="127000" indent="-127000" algn="l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 testing</a:t>
            </a:r>
            <a:endParaRPr lang="en-US" sz="1500" dirty="0"/>
          </a:p>
          <a:p>
            <a:pPr marL="127000" indent="-127000" algn="l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functionality</a:t>
            </a:r>
            <a:endParaRPr lang="en-US" sz="1500" dirty="0"/>
          </a:p>
          <a:p>
            <a:pPr marL="127000" indent="-127000" algn="l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final duck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44901" y="1885801"/>
            <a:ext cx="427497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0"/>
              </a:spcAft>
              <a:buNone/>
            </a:pPr>
            <a:r>
              <a:rPr lang="en-US" sz="2000" b="1" dirty="0">
                <a:solidFill>
                  <a:srgbClr val="18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Prompt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444901" y="2371576"/>
            <a:ext cx="4191149" cy="1400919"/>
          </a:xfrm>
          <a:prstGeom prst="roundRect">
            <a:avLst>
              <a:gd name="adj" fmla="val 5439"/>
            </a:avLst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35401" y="2562076"/>
            <a:ext cx="3886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E4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35401" y="2835027"/>
            <a:ext cx="3886352" cy="74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Chrome DevTools MCP to test the duck generator by entering a description and clicking generate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285875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7625" y="0"/>
            <a:ext cx="0" cy="1285875"/>
          </a:xfrm>
          <a:prstGeom prst="line">
            <a:avLst/>
          </a:prstGeom>
          <a:noFill/>
          <a:ln w="95250">
            <a:solidFill>
              <a:srgbClr val="181B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3200" y="381000"/>
            <a:ext cx="8193506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34901" y="1666875"/>
            <a:ext cx="382153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0"/>
              </a:spcAft>
              <a:buNone/>
            </a:pPr>
            <a:r>
              <a:rPr lang="en-US" sz="20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Specific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34901" y="2152650"/>
            <a:ext cx="3746599" cy="1107132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marL="127000" indent="-127000" algn="l">
              <a:lnSpc>
                <a:spcPts val="224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exactly what you want</a:t>
            </a:r>
            <a:endParaRPr lang="en-US" sz="1600" dirty="0"/>
          </a:p>
          <a:p>
            <a:pPr marL="127000" indent="-127000" algn="l">
              <a:lnSpc>
                <a:spcPts val="224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clear, simple language</a:t>
            </a:r>
            <a:endParaRPr lang="en-US" sz="1600" dirty="0"/>
          </a:p>
          <a:p>
            <a:pPr marL="127000" indent="-127000" algn="l">
              <a:lnSpc>
                <a:spcPts val="224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down complex tasks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762500" y="1666875"/>
            <a:ext cx="382153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0"/>
              </a:spcAft>
              <a:buNone/>
            </a:pPr>
            <a:r>
              <a:rPr lang="en-US" sz="20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762500" y="2152650"/>
            <a:ext cx="3746599" cy="1107132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marL="127000" indent="-127000" algn="l">
              <a:lnSpc>
                <a:spcPts val="224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different duck descriptions</a:t>
            </a:r>
            <a:endParaRPr lang="en-US" sz="1600" dirty="0"/>
          </a:p>
          <a:p>
            <a:pPr marL="127000" indent="-127000" algn="l">
              <a:lnSpc>
                <a:spcPts val="224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Kiro for suggestions</a:t>
            </a:r>
            <a:endParaRPr lang="en-US" sz="1600" dirty="0"/>
          </a:p>
          <a:p>
            <a:pPr marL="127000" indent="-127000" algn="l">
              <a:lnSpc>
                <a:spcPts val="224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fun with it!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1111" y="1319213"/>
            <a:ext cx="5221778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200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Start?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961111" y="2277963"/>
            <a:ext cx="5221778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0"/>
              </a:spcAft>
              <a:buNone/>
            </a:pPr>
            <a:r>
              <a:rPr lang="en-US" sz="2400" b="1" dirty="0">
                <a:solidFill>
                  <a:srgbClr val="FE4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Build Something Quacktastic!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961111" y="3011388"/>
            <a:ext cx="5221778" cy="812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2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Kiro IDE and begin your journey</a:t>
            </a:r>
            <a:endParaRPr lang="en-US" sz="2000" dirty="0"/>
          </a:p>
          <a:p>
            <a:pPr marL="0" indent="0" algn="ctr">
              <a:lnSpc>
                <a:spcPts val="32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AI-powered development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FB538B0-3B1F-280D-251F-2CF75612EC56}"/>
              </a:ext>
            </a:extLst>
          </p:cNvPr>
          <p:cNvSpPr txBox="1"/>
          <p:nvPr/>
        </p:nvSpPr>
        <p:spPr>
          <a:xfrm>
            <a:off x="201872" y="263426"/>
            <a:ext cx="5486896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algn="ctr"/>
            <a:r>
              <a:rPr lang="en-US" sz="2400" b="1" dirty="0"/>
              <a:t>Ready for More?</a:t>
            </a:r>
          </a:p>
          <a:p>
            <a:endParaRPr lang="en-US" dirty="0"/>
          </a:p>
          <a:p>
            <a:r>
              <a:rPr lang="en-US" dirty="0"/>
              <a:t>You just completed the code challenge. Now dive deeper.</a:t>
            </a:r>
          </a:p>
          <a:p>
            <a:endParaRPr lang="en-US" dirty="0"/>
          </a:p>
          <a:p>
            <a:r>
              <a:rPr lang="en-US" b="1" dirty="0"/>
              <a:t>Join </a:t>
            </a:r>
            <a:r>
              <a:rPr lang="en-US" b="1" dirty="0" err="1"/>
              <a:t>Kiroween</a:t>
            </a:r>
            <a:r>
              <a:rPr lang="en-US" b="1" dirty="0"/>
              <a:t> 2025</a:t>
            </a:r>
          </a:p>
          <a:p>
            <a:r>
              <a:rPr lang="en-US" dirty="0"/>
              <a:t>Our first Halloween hackathon where creative ideas come to life</a:t>
            </a:r>
          </a:p>
          <a:p>
            <a:endParaRPr lang="en-US" dirty="0"/>
          </a:p>
          <a:p>
            <a:r>
              <a:rPr lang="en-US" dirty="0"/>
              <a:t>$100,000 in Total Prizes</a:t>
            </a:r>
          </a:p>
          <a:p>
            <a:r>
              <a:rPr lang="en-US" dirty="0"/>
              <a:t>1st Place: $30,000</a:t>
            </a:r>
          </a:p>
          <a:p>
            <a:r>
              <a:rPr lang="en-US" dirty="0"/>
              <a:t>12 Prize Categories</a:t>
            </a:r>
          </a:p>
          <a:p>
            <a:r>
              <a:rPr lang="en-US" dirty="0"/>
              <a:t>66 Winners</a:t>
            </a:r>
          </a:p>
          <a:p>
            <a:endParaRPr lang="en-US" dirty="0"/>
          </a:p>
          <a:p>
            <a:r>
              <a:rPr lang="en-US" dirty="0"/>
              <a:t>Scan the QR code or visit kiroween.devpost.com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EFD776-1A72-FF24-EF12-D97517FEE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6904" y="869241"/>
            <a:ext cx="3755224" cy="3755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076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489</TotalTime>
  <Words>675</Words>
  <Application>Microsoft Macintosh PowerPoint</Application>
  <PresentationFormat>On-screen Show (16:9)</PresentationFormat>
  <Paragraphs>157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Kiro Duck Generator Challenge</dc:title>
  <dc:subject>PptxGenJS Presentation</dc:subject>
  <dc:creator>Kiro Challenge Team</dc:creator>
  <cp:lastModifiedBy>Obayomi, Banjo</cp:lastModifiedBy>
  <cp:revision>4</cp:revision>
  <dcterms:created xsi:type="dcterms:W3CDTF">2025-11-25T19:07:20Z</dcterms:created>
  <dcterms:modified xsi:type="dcterms:W3CDTF">2025-12-01T19:33:44Z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2025-11-25T19:09:15Z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92233f63-1849-4001-ad19-aea3c0435b3e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